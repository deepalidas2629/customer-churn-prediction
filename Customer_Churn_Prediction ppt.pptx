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Arial"/>
              </a:rPr>
              <a:t>Target Class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bubble3D val="0"/>
            <c:spPr>
              <a:solidFill>
                <a:srgbClr val="B23A4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Churn</c:v>
                </c:pt>
                <c:pt idx="1">
                  <c:v>Churn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5174</c:v>
                </c:pt>
                <c:pt idx="1">
                  <c:v>1869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Churn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4138</c:v>
                </c:pt>
                <c:pt idx="1">
                  <c:v>4138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rgbClr val="9FE0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1496</c:v>
                </c:pt>
                <c:pt idx="1">
                  <c:v>4138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Accuracy</c:v>
                </c:pt>
              </c:strCache>
            </c:strRef>
          </c:tx>
          <c:spPr>
            <a:solidFill>
              <a:srgbClr val="6B778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7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Decision Tree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</c:v>
                </c:pt>
                <c:pt idx="1">
                  <c:v>0.84</c:v>
                </c:pt>
                <c:pt idx="2">
                  <c:v>0.83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Training</c:v>
                  </c:pt>
                  <c:pt idx="1">
                    <c:v>Test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0.9966</c:v>
                </c:pt>
                <c:pt idx="1">
                  <c:v>0.7743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9FE0D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Training</c:v>
                  </c:pt>
                  <c:pt idx="1">
                    <c:v>Test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0.8554</c:v>
                </c:pt>
                <c:pt idx="1">
                  <c:v>0.775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4" Type="http://schemas.openxmlformats.org/officeDocument/2006/relationships/chart" Target="/ppt/charts/chart5.xml"/><Relationship Id="rId1" Type="http://schemas.openxmlformats.org/officeDocument/2006/relationships/image" Target="../media/image-9-1.png"/><Relationship Id="rId3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75488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85800"/>
            <a:ext cx="3977640" cy="457200"/>
          </a:xfrm>
          <a:prstGeom prst="rect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858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INTERNSHIP PROGRAM</a:t>
            </a:r>
            <a:endParaRPr lang="en-US" sz="1200" dirty="0"/>
          </a:p>
        </p:txBody>
      </p:sp>
      <p:pic>
        <p:nvPicPr>
          <p:cNvPr id="7" name="Image 0" descr="/home/claude/pptx_build/icons/trenddow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33172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PREDICTION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22960" y="3977640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telecom subscriber churn with supervised classification models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5257800"/>
            <a:ext cx="4480560" cy="914400"/>
          </a:xfrm>
          <a:prstGeom prst="rect">
            <a:avLst/>
          </a:prstGeom>
          <a:solidFill>
            <a:srgbClr val="1B225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" y="5257800"/>
            <a:ext cx="73152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5367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97280" y="56052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Deepali Das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5577840" y="6309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Naviotech Solution Pvt. Ltd.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 churn matters to a telecom business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035040" cy="4297680"/>
          </a:xfrm>
          <a:prstGeom prst="rect">
            <a:avLst/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53949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when a customer stops using a company's service.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subscription businesses like telecom providers, retaining an existing customer is far cheaper than acquiring a new one.
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that flags customers likely to churn — before they leave — so the business can act early.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783080"/>
            <a:ext cx="4754880" cy="18745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pic>
        <p:nvPicPr>
          <p:cNvPr id="7" name="Image 0" descr="/home/claude/pptx_build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1031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09560" y="19842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909560" y="2651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in the dataset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903720" y="3886200"/>
            <a:ext cx="4754880" cy="18745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pic>
        <p:nvPicPr>
          <p:cNvPr id="11" name="Image 1" descr="/home/claude/pptx_build/icons/trenddow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42062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09560" y="40873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7909560" y="4754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in the dataset churned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00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Deepali Das  |  AI Internship Program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972800" y="65288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dataset (WA_Fn-UseC_-Telco-Customer-Churn.csv)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691640"/>
          </a:xfrm>
          <a:prstGeom prst="rect">
            <a:avLst/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9AA5B1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build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631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73736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(customers)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520440" cy="1691640"/>
          </a:xfrm>
          <a:prstGeom prst="rect">
            <a:avLst/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9AA5B1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build/icons/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22631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548640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 for modelling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520440" cy="1691640"/>
          </a:xfrm>
          <a:prstGeom prst="rect">
            <a:avLst/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9AA5B1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build/icons/targe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2631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3544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923544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column: Churn (Yes/No)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3794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groups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85800" y="437083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6"/>
          <p:cNvSpPr/>
          <p:nvPr/>
        </p:nvSpPr>
        <p:spPr>
          <a:xfrm>
            <a:off x="960120" y="41879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 </a:t>
            </a:r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SeniorCitizen, Partner, Dependents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85800" y="482803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8"/>
          <p:cNvSpPr/>
          <p:nvPr/>
        </p:nvSpPr>
        <p:spPr>
          <a:xfrm>
            <a:off x="960120" y="46451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info:  </a:t>
            </a:r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Contract, PaperlessBilling, PaymentMethod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85800" y="528523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0"/>
          <p:cNvSpPr/>
          <p:nvPr/>
        </p:nvSpPr>
        <p:spPr>
          <a:xfrm>
            <a:off x="960120" y="51023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subscribed:  </a:t>
            </a:r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PhoneService, InternetService, OnlineSecurity, StreamingTV, etc.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685800" y="574243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2"/>
          <p:cNvSpPr/>
          <p:nvPr/>
        </p:nvSpPr>
        <p:spPr>
          <a:xfrm>
            <a:off x="960120" y="55595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Charges:  </a:t>
            </a:r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MonthlyCharges, TotalCharges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6400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Deepali Das  |  AI Internship Program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0972800" y="65288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raw data for modelling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72821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customerID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60720" y="172821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carries no predictive signal — dropped before modelling.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59689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blank TotalCharges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259689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rows had blank values (new customers with 0 tenure) — replaced with 0.0 and converted to numeric.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46557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60720" y="346557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remaining column was fully populated — no imputation required.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33425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15 categorical columns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60720" y="433425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Contract, PaymentMethod, etc. converted to numeric codes using LabelEncoder; encoders saved for reuse on new data.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520293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target column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760720" y="520293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Churn: "Yes" → 1, "No" → 0.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Deepali Das  |  AI Internship Program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5288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class balance and key numeric features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4572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874520"/>
            <a:ext cx="6035040" cy="105156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1984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6072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32.4 months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03920" y="2194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lifetime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0" y="3108960"/>
            <a:ext cx="6035040" cy="105156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0" name="Text 7"/>
          <p:cNvSpPr/>
          <p:nvPr/>
        </p:nvSpPr>
        <p:spPr>
          <a:xfrm>
            <a:off x="5760720" y="3218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$64.76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503920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bill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0" y="4343400"/>
            <a:ext cx="6035040" cy="105156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4" name="Text 11"/>
          <p:cNvSpPr/>
          <p:nvPr/>
        </p:nvSpPr>
        <p:spPr>
          <a:xfrm>
            <a:off x="5760720" y="4453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Charges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760720" y="4754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$2,279.73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503920" y="4663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lifetime spend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0" y="56692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churners skew toward lower tenure and month-to-month contracts — new, flexible-contract customers are the highest-risk group.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00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Deepali Das  |  AI Internship Program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972800" y="65288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Class Imbalance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SMOTE: Synthetic Minority Over-sampling Technique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206240"/>
          </a:xfrm>
          <a:prstGeom prst="rect">
            <a:avLst/>
          </a:prstGeom>
          <a:solidFill>
            <a:srgbClr val="F4F7F9"/>
          </a:solidFill>
          <a:ln/>
        </p:spPr>
      </p:sp>
      <p:pic>
        <p:nvPicPr>
          <p:cNvPr id="5" name="Image 0" descr="/home/claude/pptx_build/icons/alert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6974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had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4,138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"No Churn" vs only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1,496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"Churn" examples.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this imbalance would learn to just predict "No Churn" most of the time and still look accurate — while missing the customers who actually matter.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828800"/>
            <a:ext cx="5257800" cy="420624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pptx_build/icons/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031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2148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 — SMOTE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583680" y="26974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generates synthetic "Churn" examples (not simple duplicates) to balance the classes before training.
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SMOTE: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4,138 vs 4,138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perfectly balanced training set.</a:t>
            </a:r>
            <a:endParaRPr lang="en-US" sz="13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583680" y="4206240"/>
          <a:ext cx="466344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/>
          <p:nvPr/>
        </p:nvSpPr>
        <p:spPr>
          <a:xfrm>
            <a:off x="6400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Deepali Das  |  AI Internship Program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0972800" y="65288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&amp;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classifiers compared, then the winner evaluated on held-out test data (1,409 customers)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Accuracy (default params)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57607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(84%) carried forward for evaluation.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43891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709160"/>
            <a:ext cx="1371600" cy="868680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7823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878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5239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11680" y="4709160"/>
            <a:ext cx="1371600" cy="868680"/>
          </a:xfrm>
          <a:prstGeom prst="rect">
            <a:avLst/>
          </a:prstGeom>
          <a:solidFill>
            <a:srgbClr val="D9DEE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11680" y="47823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011680" y="5239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5669280"/>
            <a:ext cx="1371600" cy="868680"/>
          </a:xfrm>
          <a:prstGeom prst="rect">
            <a:avLst/>
          </a:prstGeom>
          <a:solidFill>
            <a:srgbClr val="D9DEE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57424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6199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011680" y="5669280"/>
            <a:ext cx="1371600" cy="868680"/>
          </a:xfrm>
          <a:prstGeom prst="rect">
            <a:avLst/>
          </a:prstGeom>
          <a:solidFill>
            <a:srgbClr val="B23A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11680" y="57424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011680" y="6199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949440" y="1737360"/>
            <a:ext cx="2331720" cy="141732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21" name="Text 18"/>
          <p:cNvSpPr/>
          <p:nvPr/>
        </p:nvSpPr>
        <p:spPr>
          <a:xfrm>
            <a:off x="6949440" y="19019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77.9%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949440" y="25420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464040" y="1737360"/>
            <a:ext cx="2331720" cy="141732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24" name="Text 21"/>
          <p:cNvSpPr/>
          <p:nvPr/>
        </p:nvSpPr>
        <p:spPr>
          <a:xfrm>
            <a:off x="9464040" y="19019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9464040" y="25420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— No Churn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949440" y="3337560"/>
            <a:ext cx="2331720" cy="141732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27" name="Text 24"/>
          <p:cNvSpPr/>
          <p:nvPr/>
        </p:nvSpPr>
        <p:spPr>
          <a:xfrm>
            <a:off x="6949440" y="35021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6949440" y="41422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— Churn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464040" y="3337560"/>
            <a:ext cx="2331720" cy="141732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30" name="Text 27"/>
          <p:cNvSpPr/>
          <p:nvPr/>
        </p:nvSpPr>
        <p:spPr>
          <a:xfrm>
            <a:off x="9464040" y="35021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9464040" y="41422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Churn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949440" y="50749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strong at identifying loyal customers, but has more room to improve at catching churners — expected given the class imbalance and the focus of the next optimization steps.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400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Deepali Das  |  AI Internship Program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972800" y="65288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Refining the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cross-validation, hyperparameter tuning, and an alternative balancing strategy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38728" cy="4892040"/>
          </a:xfrm>
          <a:prstGeom prst="rect">
            <a:avLst/>
          </a:prstGeom>
          <a:solidFill>
            <a:srgbClr val="F4F7F9"/>
          </a:solidFill>
          <a:ln/>
        </p:spPr>
      </p:sp>
      <p:pic>
        <p:nvPicPr>
          <p:cNvPr id="5" name="Image 0" descr="/home/claude/pptx_build/icons/layers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28600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K-Fold CV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017520"/>
            <a:ext cx="2990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fold keeps the same churn/no-churn ratio as the full dataset — more reliable than plain K-Fold given the class imbalance.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5166360"/>
            <a:ext cx="2990088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5239512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84.67%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569671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CV accuracy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88536" y="1508760"/>
            <a:ext cx="3538728" cy="489204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pptx_build/icons/slid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7830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2856" y="228600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62856" y="3017520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tested combinations of tree count, depth, and split thresholds to find the optimal setup automatically.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62856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775704" y="4206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62856" y="4553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775704" y="455371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562856" y="49011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775704" y="490118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562856" y="5486400"/>
            <a:ext cx="2990088" cy="548640"/>
          </a:xfrm>
          <a:prstGeom prst="rect">
            <a:avLst/>
          </a:prstGeom>
          <a:solidFill>
            <a:srgbClr val="0A4A6B"/>
          </a:solidFill>
          <a:ln/>
        </p:spPr>
      </p:sp>
      <p:sp>
        <p:nvSpPr>
          <p:cNvPr id="22" name="Text 18"/>
          <p:cNvSpPr/>
          <p:nvPr/>
        </p:nvSpPr>
        <p:spPr>
          <a:xfrm>
            <a:off x="4562856" y="553212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CV: </a:t>
            </a:r>
            <a:pPr algn="ctr" indent="0" marL="0">
              <a:buNone/>
            </a:pPr>
            <a:r>
              <a:rPr lang="en-US" sz="1300" b="1" dirty="0">
                <a:solidFill>
                  <a:srgbClr val="9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84.8%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936992" y="1508760"/>
            <a:ext cx="3538728" cy="4892040"/>
          </a:xfrm>
          <a:prstGeom prst="rect">
            <a:avLst/>
          </a:prstGeom>
          <a:solidFill>
            <a:srgbClr val="F4F7F9"/>
          </a:solidFill>
          <a:ln/>
        </p:spPr>
      </p:sp>
      <p:pic>
        <p:nvPicPr>
          <p:cNvPr id="24" name="Image 2" descr="/home/claude/pptx_build/icons/piechart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78308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11312" y="228600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Downsampling (Trade-off)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211312" y="3017520"/>
            <a:ext cx="2990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alternative to SMOTE: removes majority-class rows instead of creating synthetic ones.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more churners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(77% recall vs 59%)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overall accuracy drops slightly.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211312" y="5166360"/>
            <a:ext cx="2990088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3"/>
          <p:cNvSpPr/>
          <p:nvPr/>
        </p:nvSpPr>
        <p:spPr>
          <a:xfrm>
            <a:off x="8211312" y="5239512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75.2%  /  77%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8211312" y="569671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/  Churn Recall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400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Deepali Das  |  AI Internship Program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0972800" y="65288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&amp; Fixing Overfitting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quality check in this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4160520"/>
          </a:xfrm>
          <a:prstGeom prst="rect">
            <a:avLst/>
          </a:prstGeom>
          <a:solidFill>
            <a:srgbClr val="2A3570"/>
          </a:solidFill>
          <a:ln/>
        </p:spPr>
      </p:sp>
      <p:pic>
        <p:nvPicPr>
          <p:cNvPr id="5" name="Image 0" descr="/home/claude/pptx_build/icons/ale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Regularization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2743200"/>
          <a:ext cx="46634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914400" y="4892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severe overfitting (model memorized training data)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263640" y="1874520"/>
            <a:ext cx="5212080" cy="416052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pptx_build/icon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14884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8660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Regularization</a:t>
            </a:r>
            <a:endParaRPr lang="en-US" sz="16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537960" y="2743200"/>
          <a:ext cx="46634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 7"/>
          <p:cNvSpPr/>
          <p:nvPr/>
        </p:nvSpPr>
        <p:spPr>
          <a:xfrm>
            <a:off x="6537960" y="4892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4F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healthy generalization, similar test accuracy retained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40080" y="6172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limited tree depth (max_depth=8) and required more samples per leaf (min_samples_leaf=4) so the model learns general patterns instead of memorizing individual customers.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00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Deepali Das  |  AI Internship Program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0972800" y="65288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x_build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91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663440" y="169164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Random Forest — 77.5% test accuracy with only an 8% train/test gap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pptx_build/icons/targ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260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predictors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63440" y="274320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type, tenure, and monthly charges are the strongest churn signals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pptx_build/icons/activit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776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process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63440" y="379476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3 models, tuned hyperparameters, tested 2 balancing strategies, and diagnosed overfitting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731520" y="4892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/home/claude/pptx_build/icons/branch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0292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846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663440" y="484632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at-risk customers early, enabling targeted retention offers before they churn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40080" y="5989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6400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Deepali Das  |  AI Internship Program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972800" y="65288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2026-07-18T09:52:37Z</dcterms:created>
  <dcterms:modified xsi:type="dcterms:W3CDTF">2026-07-18T09:52:37Z</dcterms:modified>
</cp:coreProperties>
</file>